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5"/>
          <c:y val="0.06"/>
          <c:w val="0.8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</c:v>
                </c:pt>
              </c:strCache>
            </c:strRef>
          </c:tx>
          <c:spPr>
            <a:ln w="28575" cap="rnd">
              <a:solidFill>
                <a:srgbClr val="8AE2E7"/>
              </a:solidFill>
              <a:round/>
            </a:ln>
          </c:spPr>
          <c:marker>
            <c:symbol val="none"/>
          </c:marker>
          <c:dPt>
            <c:idx val="73"/>
            <c:marker>
              <c:symbol val="circle"/>
              <c:size val="9"/>
              <c:spPr>
                <a:solidFill>
                  <a:srgbClr val="8AE2E7"/>
                </a:solidFill>
                <a:ln w="19050">
                  <a:solidFill>
                    <a:srgbClr val="2A2520"/>
                  </a:solidFill>
                </a:ln>
              </c:spPr>
            </c:marker>
          </c:dPt>
          <c:dLbls>
            <c:dLbl>
              <c:idx val="73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ECE7DF"/>
                        </a:solidFill>
                        <a:latin typeface="Corbel"/>
                      </a:rPr>
                      <a:t>Asia 74.6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Sheet1!$A$2:$A$75</c:f>
              <c:strCache>
                <c:ptCount val="74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  <c:pt idx="64">
                  <c:v>2014</c:v>
                </c:pt>
                <c:pt idx="65">
                  <c:v>2015</c:v>
                </c:pt>
                <c:pt idx="66">
                  <c:v>2016</c:v>
                </c:pt>
                <c:pt idx="67">
                  <c:v>2017</c:v>
                </c:pt>
                <c:pt idx="68">
                  <c:v>2018</c:v>
                </c:pt>
                <c:pt idx="69">
                  <c:v>2019</c:v>
                </c:pt>
                <c:pt idx="70">
                  <c:v>2020</c:v>
                </c:pt>
                <c:pt idx="71">
                  <c:v>2021</c:v>
                </c:pt>
                <c:pt idx="72">
                  <c:v>2022</c:v>
                </c:pt>
                <c:pt idx="73">
                  <c:v>2023</c:v>
                </c:pt>
              </c:strCache>
            </c:strRef>
          </c:cat>
          <c:val>
            <c:numRef>
              <c:f>Sheet1!$B$2:$B$75</c:f>
              <c:numCache>
                <c:formatCode>0.0</c:formatCode>
                <c:ptCount val="74"/>
                <c:pt idx="0">
                  <c:v>41.96</c:v>
                </c:pt>
                <c:pt idx="1">
                  <c:v>42.96</c:v>
                </c:pt>
                <c:pt idx="2">
                  <c:v>44.24</c:v>
                </c:pt>
                <c:pt idx="3">
                  <c:v>44.87</c:v>
                </c:pt>
                <c:pt idx="4">
                  <c:v>45.84</c:v>
                </c:pt>
                <c:pt idx="5">
                  <c:v>46.43</c:v>
                </c:pt>
                <c:pt idx="6">
                  <c:v>46.94</c:v>
                </c:pt>
                <c:pt idx="7">
                  <c:v>47.44</c:v>
                </c:pt>
                <c:pt idx="8">
                  <c:v>47.91</c:v>
                </c:pt>
                <c:pt idx="9">
                  <c:v>44.55</c:v>
                </c:pt>
                <c:pt idx="10">
                  <c:v>41.79</c:v>
                </c:pt>
                <c:pt idx="11">
                  <c:v>45.22</c:v>
                </c:pt>
                <c:pt idx="12">
                  <c:v>49.71</c:v>
                </c:pt>
                <c:pt idx="13">
                  <c:v>50.41</c:v>
                </c:pt>
                <c:pt idx="14">
                  <c:v>51.05</c:v>
                </c:pt>
                <c:pt idx="15">
                  <c:v>50.65</c:v>
                </c:pt>
                <c:pt idx="16">
                  <c:v>51.51</c:v>
                </c:pt>
                <c:pt idx="17">
                  <c:v>52.23</c:v>
                </c:pt>
                <c:pt idx="18">
                  <c:v>53.12</c:v>
                </c:pt>
                <c:pt idx="19">
                  <c:v>53.75</c:v>
                </c:pt>
                <c:pt idx="20">
                  <c:v>54.04</c:v>
                </c:pt>
                <c:pt idx="21">
                  <c:v>53.44</c:v>
                </c:pt>
                <c:pt idx="22">
                  <c:v>55.32</c:v>
                </c:pt>
                <c:pt idx="23">
                  <c:v>55.93</c:v>
                </c:pt>
                <c:pt idx="24">
                  <c:v>56.38</c:v>
                </c:pt>
                <c:pt idx="25">
                  <c:v>56.61</c:v>
                </c:pt>
                <c:pt idx="26">
                  <c:v>56.92</c:v>
                </c:pt>
                <c:pt idx="27">
                  <c:v>57.62</c:v>
                </c:pt>
                <c:pt idx="28">
                  <c:v>58.11</c:v>
                </c:pt>
                <c:pt idx="29">
                  <c:v>59.0</c:v>
                </c:pt>
                <c:pt idx="30">
                  <c:v>59.46</c:v>
                </c:pt>
                <c:pt idx="31">
                  <c:v>59.96</c:v>
                </c:pt>
                <c:pt idx="32">
                  <c:v>60.47</c:v>
                </c:pt>
                <c:pt idx="33">
                  <c:v>60.94</c:v>
                </c:pt>
                <c:pt idx="34">
                  <c:v>61.41</c:v>
                </c:pt>
                <c:pt idx="35">
                  <c:v>61.86</c:v>
                </c:pt>
                <c:pt idx="36">
                  <c:v>62.38</c:v>
                </c:pt>
                <c:pt idx="37">
                  <c:v>62.85</c:v>
                </c:pt>
                <c:pt idx="38">
                  <c:v>63.21</c:v>
                </c:pt>
                <c:pt idx="39">
                  <c:v>63.66</c:v>
                </c:pt>
                <c:pt idx="40">
                  <c:v>63.96</c:v>
                </c:pt>
                <c:pt idx="41">
                  <c:v>64.23</c:v>
                </c:pt>
                <c:pt idx="42">
                  <c:v>64.71</c:v>
                </c:pt>
                <c:pt idx="43">
                  <c:v>65.08</c:v>
                </c:pt>
                <c:pt idx="44">
                  <c:v>65.39</c:v>
                </c:pt>
                <c:pt idx="45">
                  <c:v>65.7</c:v>
                </c:pt>
                <c:pt idx="46">
                  <c:v>66.1</c:v>
                </c:pt>
                <c:pt idx="47">
                  <c:v>66.46</c:v>
                </c:pt>
                <c:pt idx="48">
                  <c:v>66.82</c:v>
                </c:pt>
                <c:pt idx="49">
                  <c:v>67.17</c:v>
                </c:pt>
                <c:pt idx="50">
                  <c:v>67.61</c:v>
                </c:pt>
                <c:pt idx="51">
                  <c:v>67.99</c:v>
                </c:pt>
                <c:pt idx="52">
                  <c:v>68.4</c:v>
                </c:pt>
                <c:pt idx="53">
                  <c:v>68.8</c:v>
                </c:pt>
                <c:pt idx="54">
                  <c:v>69.03</c:v>
                </c:pt>
                <c:pt idx="55">
                  <c:v>69.5</c:v>
                </c:pt>
                <c:pt idx="56">
                  <c:v>69.91</c:v>
                </c:pt>
                <c:pt idx="57">
                  <c:v>70.3</c:v>
                </c:pt>
                <c:pt idx="58">
                  <c:v>70.5</c:v>
                </c:pt>
                <c:pt idx="59">
                  <c:v>71.01</c:v>
                </c:pt>
                <c:pt idx="60">
                  <c:v>71.38</c:v>
                </c:pt>
                <c:pt idx="61">
                  <c:v>71.68</c:v>
                </c:pt>
                <c:pt idx="62">
                  <c:v>72.04</c:v>
                </c:pt>
                <c:pt idx="63">
                  <c:v>72.36</c:v>
                </c:pt>
                <c:pt idx="64">
                  <c:v>72.71</c:v>
                </c:pt>
                <c:pt idx="65">
                  <c:v>72.97</c:v>
                </c:pt>
                <c:pt idx="66">
                  <c:v>73.27</c:v>
                </c:pt>
                <c:pt idx="67">
                  <c:v>73.49</c:v>
                </c:pt>
                <c:pt idx="68">
                  <c:v>73.79</c:v>
                </c:pt>
                <c:pt idx="69">
                  <c:v>74.05</c:v>
                </c:pt>
                <c:pt idx="70">
                  <c:v>73.61</c:v>
                </c:pt>
                <c:pt idx="71">
                  <c:v>72.37</c:v>
                </c:pt>
                <c:pt idx="72">
                  <c:v>74.43</c:v>
                </c:pt>
                <c:pt idx="73">
                  <c:v>74.57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Africa</c:v>
                </c:pt>
              </c:strCache>
            </c:strRef>
          </c:tx>
          <c:spPr>
            <a:ln w="28575" cap="rnd">
              <a:solidFill>
                <a:srgbClr val="E8A68F"/>
              </a:solidFill>
              <a:round/>
            </a:ln>
          </c:spPr>
          <c:marker>
            <c:symbol val="none"/>
          </c:marker>
          <c:dPt>
            <c:idx val="73"/>
            <c:marker>
              <c:symbol val="circle"/>
              <c:size val="9"/>
              <c:spPr>
                <a:solidFill>
                  <a:srgbClr val="E8A68F"/>
                </a:solidFill>
                <a:ln w="19050">
                  <a:solidFill>
                    <a:srgbClr val="2A2520"/>
                  </a:solidFill>
                </a:ln>
              </c:spPr>
            </c:marker>
          </c:dPt>
          <c:dLbls>
            <c:dLbl>
              <c:idx val="73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ECE7DF"/>
                        </a:solidFill>
                        <a:latin typeface="Corbel"/>
                      </a:rPr>
                      <a:t>Africa 63.8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Sheet1!$A$2:$A$75</c:f>
              <c:strCache>
                <c:ptCount val="74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  <c:pt idx="64">
                  <c:v>2014</c:v>
                </c:pt>
                <c:pt idx="65">
                  <c:v>2015</c:v>
                </c:pt>
                <c:pt idx="66">
                  <c:v>2016</c:v>
                </c:pt>
                <c:pt idx="67">
                  <c:v>2017</c:v>
                </c:pt>
                <c:pt idx="68">
                  <c:v>2018</c:v>
                </c:pt>
                <c:pt idx="69">
                  <c:v>2019</c:v>
                </c:pt>
                <c:pt idx="70">
                  <c:v>2020</c:v>
                </c:pt>
                <c:pt idx="71">
                  <c:v>2021</c:v>
                </c:pt>
                <c:pt idx="72">
                  <c:v>2022</c:v>
                </c:pt>
                <c:pt idx="73">
                  <c:v>2023</c:v>
                </c:pt>
              </c:strCache>
            </c:strRef>
          </c:cat>
          <c:val>
            <c:numRef>
              <c:f>Sheet1!$C$2:$C$75</c:f>
              <c:numCache>
                <c:formatCode>0.0</c:formatCode>
                <c:ptCount val="74"/>
                <c:pt idx="0">
                  <c:v>37.25</c:v>
                </c:pt>
                <c:pt idx="1">
                  <c:v>37.78</c:v>
                </c:pt>
                <c:pt idx="2">
                  <c:v>38.25</c:v>
                </c:pt>
                <c:pt idx="3">
                  <c:v>38.73</c:v>
                </c:pt>
                <c:pt idx="4">
                  <c:v>39.09</c:v>
                </c:pt>
                <c:pt idx="5">
                  <c:v>39.55</c:v>
                </c:pt>
                <c:pt idx="6">
                  <c:v>39.98</c:v>
                </c:pt>
                <c:pt idx="7">
                  <c:v>39.86</c:v>
                </c:pt>
                <c:pt idx="8">
                  <c:v>40.24</c:v>
                </c:pt>
                <c:pt idx="9">
                  <c:v>41.19</c:v>
                </c:pt>
                <c:pt idx="10">
                  <c:v>41.4</c:v>
                </c:pt>
                <c:pt idx="11">
                  <c:v>41.78</c:v>
                </c:pt>
                <c:pt idx="12">
                  <c:v>42.25</c:v>
                </c:pt>
                <c:pt idx="13">
                  <c:v>42.72</c:v>
                </c:pt>
                <c:pt idx="14">
                  <c:v>43.09</c:v>
                </c:pt>
                <c:pt idx="15">
                  <c:v>43.36</c:v>
                </c:pt>
                <c:pt idx="16">
                  <c:v>43.46</c:v>
                </c:pt>
                <c:pt idx="17">
                  <c:v>43.75</c:v>
                </c:pt>
                <c:pt idx="18">
                  <c:v>44.25</c:v>
                </c:pt>
                <c:pt idx="19">
                  <c:v>44.51</c:v>
                </c:pt>
                <c:pt idx="20">
                  <c:v>44.99</c:v>
                </c:pt>
                <c:pt idx="21">
                  <c:v>45.4</c:v>
                </c:pt>
                <c:pt idx="22">
                  <c:v>45.46</c:v>
                </c:pt>
                <c:pt idx="23">
                  <c:v>46.1</c:v>
                </c:pt>
                <c:pt idx="24">
                  <c:v>46.41</c:v>
                </c:pt>
                <c:pt idx="25">
                  <c:v>46.81</c:v>
                </c:pt>
                <c:pt idx="26">
                  <c:v>47.55</c:v>
                </c:pt>
                <c:pt idx="27">
                  <c:v>48.04</c:v>
                </c:pt>
                <c:pt idx="28">
                  <c:v>48.43</c:v>
                </c:pt>
                <c:pt idx="29">
                  <c:v>48.96</c:v>
                </c:pt>
                <c:pt idx="30">
                  <c:v>49.41</c:v>
                </c:pt>
                <c:pt idx="31">
                  <c:v>49.82</c:v>
                </c:pt>
                <c:pt idx="32">
                  <c:v>50.21</c:v>
                </c:pt>
                <c:pt idx="33">
                  <c:v>49.55</c:v>
                </c:pt>
                <c:pt idx="34">
                  <c:v>49.74</c:v>
                </c:pt>
                <c:pt idx="35">
                  <c:v>50.13</c:v>
                </c:pt>
                <c:pt idx="36">
                  <c:v>50.59</c:v>
                </c:pt>
                <c:pt idx="37">
                  <c:v>51.19</c:v>
                </c:pt>
                <c:pt idx="38">
                  <c:v>51.06</c:v>
                </c:pt>
                <c:pt idx="39">
                  <c:v>51.71</c:v>
                </c:pt>
                <c:pt idx="40">
                  <c:v>51.66</c:v>
                </c:pt>
                <c:pt idx="41">
                  <c:v>51.49</c:v>
                </c:pt>
                <c:pt idx="42">
                  <c:v>51.43</c:v>
                </c:pt>
                <c:pt idx="43">
                  <c:v>51.83</c:v>
                </c:pt>
                <c:pt idx="44">
                  <c:v>49.96</c:v>
                </c:pt>
                <c:pt idx="45">
                  <c:v>52.34</c:v>
                </c:pt>
                <c:pt idx="46">
                  <c:v>52.37</c:v>
                </c:pt>
                <c:pt idx="47">
                  <c:v>52.58</c:v>
                </c:pt>
                <c:pt idx="48">
                  <c:v>52.4</c:v>
                </c:pt>
                <c:pt idx="49">
                  <c:v>53.06</c:v>
                </c:pt>
                <c:pt idx="50">
                  <c:v>53.67</c:v>
                </c:pt>
                <c:pt idx="51">
                  <c:v>54.01</c:v>
                </c:pt>
                <c:pt idx="52">
                  <c:v>54.39</c:v>
                </c:pt>
                <c:pt idx="53">
                  <c:v>54.84</c:v>
                </c:pt>
                <c:pt idx="54">
                  <c:v>55.34</c:v>
                </c:pt>
                <c:pt idx="55">
                  <c:v>55.85</c:v>
                </c:pt>
                <c:pt idx="56">
                  <c:v>56.46</c:v>
                </c:pt>
                <c:pt idx="57">
                  <c:v>57.08</c:v>
                </c:pt>
                <c:pt idx="58">
                  <c:v>57.67</c:v>
                </c:pt>
                <c:pt idx="59">
                  <c:v>57.75</c:v>
                </c:pt>
                <c:pt idx="60">
                  <c:v>58.77</c:v>
                </c:pt>
                <c:pt idx="61">
                  <c:v>58.96</c:v>
                </c:pt>
                <c:pt idx="62">
                  <c:v>59.8</c:v>
                </c:pt>
                <c:pt idx="63">
                  <c:v>60.27</c:v>
                </c:pt>
                <c:pt idx="64">
                  <c:v>60.47</c:v>
                </c:pt>
                <c:pt idx="65">
                  <c:v>60.84</c:v>
                </c:pt>
                <c:pt idx="66">
                  <c:v>61.21</c:v>
                </c:pt>
                <c:pt idx="67">
                  <c:v>61.51</c:v>
                </c:pt>
                <c:pt idx="68">
                  <c:v>62.17</c:v>
                </c:pt>
                <c:pt idx="69">
                  <c:v>62.45</c:v>
                </c:pt>
                <c:pt idx="70">
                  <c:v>62.26</c:v>
                </c:pt>
                <c:pt idx="71">
                  <c:v>61.79</c:v>
                </c:pt>
                <c:pt idx="72">
                  <c:v>62.92</c:v>
                </c:pt>
                <c:pt idx="73">
                  <c:v>63.84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ln w="28575" cap="rnd">
              <a:solidFill>
                <a:srgbClr val="8099CF"/>
              </a:solidFill>
              <a:round/>
            </a:ln>
          </c:spPr>
          <c:marker>
            <c:symbol val="none"/>
          </c:marker>
          <c:dPt>
            <c:idx val="73"/>
            <c:marker>
              <c:symbol val="circle"/>
              <c:size val="9"/>
              <c:spPr>
                <a:solidFill>
                  <a:srgbClr val="8099CF"/>
                </a:solidFill>
                <a:ln w="19050">
                  <a:solidFill>
                    <a:srgbClr val="2A2520"/>
                  </a:solidFill>
                </a:ln>
              </c:spPr>
            </c:marker>
          </c:dPt>
          <c:dLbls>
            <c:dLbl>
              <c:idx val="73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ECE7DF"/>
                        </a:solidFill>
                        <a:latin typeface="Corbel"/>
                      </a:rPr>
                      <a:t>Europe 79.1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Sheet1!$A$2:$A$75</c:f>
              <c:strCache>
                <c:ptCount val="74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  <c:pt idx="64">
                  <c:v>2014</c:v>
                </c:pt>
                <c:pt idx="65">
                  <c:v>2015</c:v>
                </c:pt>
                <c:pt idx="66">
                  <c:v>2016</c:v>
                </c:pt>
                <c:pt idx="67">
                  <c:v>2017</c:v>
                </c:pt>
                <c:pt idx="68">
                  <c:v>2018</c:v>
                </c:pt>
                <c:pt idx="69">
                  <c:v>2019</c:v>
                </c:pt>
                <c:pt idx="70">
                  <c:v>2020</c:v>
                </c:pt>
                <c:pt idx="71">
                  <c:v>2021</c:v>
                </c:pt>
                <c:pt idx="72">
                  <c:v>2022</c:v>
                </c:pt>
                <c:pt idx="73">
                  <c:v>2023</c:v>
                </c:pt>
              </c:strCache>
            </c:strRef>
          </c:cat>
          <c:val>
            <c:numRef>
              <c:f>Sheet1!$D$2:$D$75</c:f>
              <c:numCache>
                <c:formatCode>0.0</c:formatCode>
                <c:ptCount val="74"/>
                <c:pt idx="0">
                  <c:v>61.96</c:v>
                </c:pt>
                <c:pt idx="1">
                  <c:v>61.89</c:v>
                </c:pt>
                <c:pt idx="2">
                  <c:v>63.29</c:v>
                </c:pt>
                <c:pt idx="3">
                  <c:v>64.05</c:v>
                </c:pt>
                <c:pt idx="4">
                  <c:v>64.88</c:v>
                </c:pt>
                <c:pt idx="5">
                  <c:v>65.65</c:v>
                </c:pt>
                <c:pt idx="6">
                  <c:v>66.8</c:v>
                </c:pt>
                <c:pt idx="7">
                  <c:v>66.98</c:v>
                </c:pt>
                <c:pt idx="8">
                  <c:v>68.04</c:v>
                </c:pt>
                <c:pt idx="9">
                  <c:v>68.26</c:v>
                </c:pt>
                <c:pt idx="10">
                  <c:v>68.71</c:v>
                </c:pt>
                <c:pt idx="11">
                  <c:v>69.17</c:v>
                </c:pt>
                <c:pt idx="12">
                  <c:v>69.14</c:v>
                </c:pt>
                <c:pt idx="13">
                  <c:v>69.39</c:v>
                </c:pt>
                <c:pt idx="14">
                  <c:v>70.03</c:v>
                </c:pt>
                <c:pt idx="15">
                  <c:v>70.04</c:v>
                </c:pt>
                <c:pt idx="16">
                  <c:v>70.24</c:v>
                </c:pt>
                <c:pt idx="17">
                  <c:v>70.32</c:v>
                </c:pt>
                <c:pt idx="18">
                  <c:v>70.15</c:v>
                </c:pt>
                <c:pt idx="19">
                  <c:v>69.96</c:v>
                </c:pt>
                <c:pt idx="20">
                  <c:v>70.29</c:v>
                </c:pt>
                <c:pt idx="21">
                  <c:v>70.47</c:v>
                </c:pt>
                <c:pt idx="22">
                  <c:v>70.69</c:v>
                </c:pt>
                <c:pt idx="23">
                  <c:v>70.8</c:v>
                </c:pt>
                <c:pt idx="24">
                  <c:v>70.96</c:v>
                </c:pt>
                <c:pt idx="25">
                  <c:v>70.87</c:v>
                </c:pt>
                <c:pt idx="26">
                  <c:v>70.96</c:v>
                </c:pt>
                <c:pt idx="27">
                  <c:v>71.16</c:v>
                </c:pt>
                <c:pt idx="28">
                  <c:v>71.19</c:v>
                </c:pt>
                <c:pt idx="29">
                  <c:v>71.28</c:v>
                </c:pt>
                <c:pt idx="30">
                  <c:v>71.34</c:v>
                </c:pt>
                <c:pt idx="31">
                  <c:v>71.55</c:v>
                </c:pt>
                <c:pt idx="32">
                  <c:v>71.87</c:v>
                </c:pt>
                <c:pt idx="33">
                  <c:v>71.87</c:v>
                </c:pt>
                <c:pt idx="34">
                  <c:v>72.01</c:v>
                </c:pt>
                <c:pt idx="35">
                  <c:v>72.23</c:v>
                </c:pt>
                <c:pt idx="36">
                  <c:v>72.83</c:v>
                </c:pt>
                <c:pt idx="37">
                  <c:v>73.08</c:v>
                </c:pt>
                <c:pt idx="38">
                  <c:v>73.15</c:v>
                </c:pt>
                <c:pt idx="39">
                  <c:v>73.2</c:v>
                </c:pt>
                <c:pt idx="40">
                  <c:v>73.12</c:v>
                </c:pt>
                <c:pt idx="41">
                  <c:v>73.09</c:v>
                </c:pt>
                <c:pt idx="42">
                  <c:v>72.76</c:v>
                </c:pt>
                <c:pt idx="43">
                  <c:v>72.11</c:v>
                </c:pt>
                <c:pt idx="44">
                  <c:v>72.04</c:v>
                </c:pt>
                <c:pt idx="45">
                  <c:v>72.18</c:v>
                </c:pt>
                <c:pt idx="46">
                  <c:v>72.74</c:v>
                </c:pt>
                <c:pt idx="47">
                  <c:v>73.3</c:v>
                </c:pt>
                <c:pt idx="48">
                  <c:v>73.56</c:v>
                </c:pt>
                <c:pt idx="49">
                  <c:v>73.32</c:v>
                </c:pt>
                <c:pt idx="50">
                  <c:v>73.44</c:v>
                </c:pt>
                <c:pt idx="51">
                  <c:v>73.62</c:v>
                </c:pt>
                <c:pt idx="52">
                  <c:v>73.63</c:v>
                </c:pt>
                <c:pt idx="53">
                  <c:v>73.68</c:v>
                </c:pt>
                <c:pt idx="54">
                  <c:v>74.15</c:v>
                </c:pt>
                <c:pt idx="55">
                  <c:v>74.29</c:v>
                </c:pt>
                <c:pt idx="56">
                  <c:v>74.9</c:v>
                </c:pt>
                <c:pt idx="57">
                  <c:v>75.31</c:v>
                </c:pt>
                <c:pt idx="58">
                  <c:v>75.61</c:v>
                </c:pt>
                <c:pt idx="59">
                  <c:v>76.06</c:v>
                </c:pt>
                <c:pt idx="60">
                  <c:v>76.2</c:v>
                </c:pt>
                <c:pt idx="61">
                  <c:v>76.87</c:v>
                </c:pt>
                <c:pt idx="62">
                  <c:v>77.06</c:v>
                </c:pt>
                <c:pt idx="63">
                  <c:v>77.41</c:v>
                </c:pt>
                <c:pt idx="64">
                  <c:v>77.68</c:v>
                </c:pt>
                <c:pt idx="65">
                  <c:v>77.78</c:v>
                </c:pt>
                <c:pt idx="66">
                  <c:v>78.17</c:v>
                </c:pt>
                <c:pt idx="67">
                  <c:v>78.46</c:v>
                </c:pt>
                <c:pt idx="68">
                  <c:v>78.53</c:v>
                </c:pt>
                <c:pt idx="69">
                  <c:v>78.76</c:v>
                </c:pt>
                <c:pt idx="70">
                  <c:v>77.65</c:v>
                </c:pt>
                <c:pt idx="71">
                  <c:v>77.04</c:v>
                </c:pt>
                <c:pt idx="72">
                  <c:v>78.18</c:v>
                </c:pt>
                <c:pt idx="73">
                  <c:v>79.06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>
            <a:solidFill>
              <a:srgbClr val="413C36"/>
            </a:solidFill>
          </a:ln>
        </c:spPr>
        <c:txPr>
          <a:bodyPr/>
          <a:lstStyle/>
          <a:p>
            <a:pPr>
              <a:defRPr sz="1600">
                <a:solidFill>
                  <a:srgbClr val="A29E96"/>
                </a:solidFill>
                <a:latin typeface="Corbel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80.0"/>
          <c:min val="30.0"/>
        </c:scaling>
        <c:delete val="0"/>
        <c:axPos val="l"/>
        <c:majorGridlines>
          <c:spPr>
            <a:ln w="9525">
              <a:solidFill>
                <a:srgbClr val="413C36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A29E96"/>
                </a:solidFill>
                <a:latin typeface="Corbel"/>
              </a:defRPr>
            </a:pPr>
          </a:p>
        </c:txPr>
        <c:crossAx val="2118791784"/>
        <c:crosses val="autoZero"/>
        <c:majorUnit val="1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600">
          <a:latin typeface="Corbe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6"/>
          <c:w val="0.92"/>
          <c:h val="0.8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2000</c:v>
                </c:pt>
              </c:strCache>
            </c:strRef>
          </c:tx>
          <c:spPr>
            <a:solidFill>
              <a:srgbClr val="8AE2E7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C9C4BB"/>
                        </a:solidFill>
                        <a:latin typeface="Corbel"/>
                      </a:rPr>
                      <a:t>2000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coal</c:v>
                </c:pt>
                <c:pt idx="1">
                  <c:v>oil and gas</c:v>
                </c:pt>
                <c:pt idx="2">
                  <c:v>nuclear</c:v>
                </c:pt>
                <c:pt idx="3">
                  <c:v>hydro and bio</c:v>
                </c:pt>
                <c:pt idx="4">
                  <c:v>wind</c:v>
                </c:pt>
                <c:pt idx="5">
                  <c:v>solar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5809</c:v>
                </c:pt>
                <c:pt idx="1">
                  <c:v>4070</c:v>
                </c:pt>
                <c:pt idx="2">
                  <c:v>2540</c:v>
                </c:pt>
                <c:pt idx="3">
                  <c:v>2827</c:v>
                </c:pt>
                <c:pt idx="4">
                  <c:v>31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8A68F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C9C4BB"/>
                        </a:solidFill>
                        <a:latin typeface="Corbel"/>
                      </a:rPr>
                      <a:t>2025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coal</c:v>
                </c:pt>
                <c:pt idx="1">
                  <c:v>oil and gas</c:v>
                </c:pt>
                <c:pt idx="2">
                  <c:v>nuclear</c:v>
                </c:pt>
                <c:pt idx="3">
                  <c:v>hydro and bio</c:v>
                </c:pt>
                <c:pt idx="4">
                  <c:v>wind</c:v>
                </c:pt>
                <c:pt idx="5">
                  <c:v>solar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10472</c:v>
                </c:pt>
                <c:pt idx="1">
                  <c:v>7763</c:v>
                </c:pt>
                <c:pt idx="2">
                  <c:v>2812</c:v>
                </c:pt>
                <c:pt idx="3">
                  <c:v>5235</c:v>
                </c:pt>
                <c:pt idx="4">
                  <c:v>2713</c:v>
                </c:pt>
                <c:pt idx="5">
                  <c:v>2779</c:v>
                </c:pt>
              </c:numCache>
            </c:numRef>
          </c:val>
        </c:ser>
        <c:gapWidth val="60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>
            <a:solidFill>
              <a:srgbClr val="413C36"/>
            </a:solidFill>
          </a:ln>
        </c:spPr>
        <c:txPr>
          <a:bodyPr/>
          <a:lstStyle/>
          <a:p>
            <a:pPr>
              <a:defRPr sz="1600">
                <a:solidFill>
                  <a:srgbClr val="C9C4BB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9525">
              <a:solidFill>
                <a:srgbClr val="413C36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A29E96"/>
                </a:solidFill>
                <a:latin typeface="Corbel"/>
              </a:defRPr>
            </a:pPr>
          </a:p>
        </c:txPr>
        <c:crossAx val="-2068027336"/>
        <c:crosses val="autoZero"/>
        <c:majorUnit val="20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latin typeface="Corbe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 userDrawn="1"/>
        </p:nvSpPr>
        <p:spPr>
          <a:xfrm>
            <a:off x="609905" y="1883664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>
          <a:xfrm>
            <a:off x="609905" y="2048256"/>
            <a:ext cx="10424160" cy="151790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4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The talk’s claim, in one sentence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>
          <a:xfrm>
            <a:off x="609905" y="3803904"/>
            <a:ext cx="10424160" cy="7315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talk shows, in one line</a:t>
            </a:r>
          </a:p>
        </p:txBody>
      </p:sp>
      <p:sp>
        <p:nvSpPr>
          <p:cNvPr id="5" name="Author and date"/>
          <p:cNvSpPr>
            <a:spLocks noGrp="1"/>
          </p:cNvSpPr>
          <p:nvPr>
            <p:ph type="body" sz="quarter" idx="13"/>
          </p:nvPr>
        </p:nvSpPr>
        <p:spPr>
          <a:xfrm>
            <a:off x="609905" y="4754880"/>
            <a:ext cx="10424160" cy="36576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Author · venue · date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>
            <a:spLocks noGrp="1"/>
          </p:cNvSpPr>
          <p:nvPr>
            <p:ph type="body" sz="quarter" idx="13"/>
          </p:nvPr>
        </p:nvSpPr>
        <p:spPr>
          <a:xfrm>
            <a:off x="609905" y="2103120"/>
            <a:ext cx="3657600" cy="36576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01</a:t>
            </a:r>
          </a:p>
        </p:txBody>
      </p:sp>
      <p:sp>
        <p:nvSpPr>
          <p:cNvPr id="3" name="Rule"/>
          <p:cNvSpPr/>
          <p:nvPr userDrawn="1"/>
        </p:nvSpPr>
        <p:spPr>
          <a:xfrm>
            <a:off x="609905" y="2670048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ection title"/>
          <p:cNvSpPr>
            <a:spLocks noGrp="1"/>
          </p:cNvSpPr>
          <p:nvPr>
            <p:ph type="title"/>
          </p:nvPr>
        </p:nvSpPr>
        <p:spPr>
          <a:xfrm>
            <a:off x="609905" y="2852928"/>
            <a:ext cx="10424160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5" name="Section line"/>
          <p:cNvSpPr>
            <a:spLocks noGrp="1"/>
          </p:cNvSpPr>
          <p:nvPr>
            <p:ph type="body" sz="quarter" idx="14"/>
          </p:nvPr>
        </p:nvSpPr>
        <p:spPr>
          <a:xfrm>
            <a:off x="609905" y="4023360"/>
            <a:ext cx="10424160" cy="7315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this part shows, in one line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 +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Figure"/>
          <p:cNvSpPr>
            <a:spLocks noGrp="1"/>
          </p:cNvSpPr>
          <p:nvPr>
            <p:ph type="pic" idx="14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Figure: a Vellum PNG at slide scale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 + 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Figure left"/>
          <p:cNvSpPr>
            <a:spLocks noGrp="1"/>
          </p:cNvSpPr>
          <p:nvPr>
            <p:ph type="pic" idx="14"/>
          </p:nvPr>
        </p:nvSpPr>
        <p:spPr>
          <a:xfrm>
            <a:off x="609905" y="2212848"/>
            <a:ext cx="5303063" cy="336499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Figure, left</a:t>
            </a:r>
          </a:p>
        </p:txBody>
      </p:sp>
      <p:sp>
        <p:nvSpPr>
          <p:cNvPr id="5" name="Caption left"/>
          <p:cNvSpPr>
            <a:spLocks noGrp="1"/>
          </p:cNvSpPr>
          <p:nvPr>
            <p:ph type="body" sz="quarter" idx="16"/>
          </p:nvPr>
        </p:nvSpPr>
        <p:spPr>
          <a:xfrm>
            <a:off x="609905" y="5724144"/>
            <a:ext cx="5303063" cy="42062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left figure shows</a:t>
            </a:r>
          </a:p>
        </p:txBody>
      </p:sp>
      <p:sp>
        <p:nvSpPr>
          <p:cNvPr id="6" name="Figure right"/>
          <p:cNvSpPr>
            <a:spLocks noGrp="1"/>
          </p:cNvSpPr>
          <p:nvPr>
            <p:ph type="pic" idx="15"/>
          </p:nvPr>
        </p:nvSpPr>
        <p:spPr>
          <a:xfrm>
            <a:off x="6278728" y="2212848"/>
            <a:ext cx="5303063" cy="336499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Figure, right</a:t>
            </a:r>
          </a:p>
        </p:txBody>
      </p:sp>
      <p:sp>
        <p:nvSpPr>
          <p:cNvPr id="7" name="Caption right"/>
          <p:cNvSpPr>
            <a:spLocks noGrp="1"/>
          </p:cNvSpPr>
          <p:nvPr>
            <p:ph type="body" sz="quarter" idx="17"/>
          </p:nvPr>
        </p:nvSpPr>
        <p:spPr>
          <a:xfrm>
            <a:off x="6278728" y="5724144"/>
            <a:ext cx="5303063" cy="42062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right figure shows</a:t>
            </a:r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Tile"/>
          <p:cNvSpPr/>
          <p:nvPr userDrawn="1"/>
        </p:nvSpPr>
        <p:spPr>
          <a:xfrm>
            <a:off x="609905" y="1828800"/>
            <a:ext cx="6035040" cy="338328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Big number"/>
          <p:cNvSpPr>
            <a:spLocks noGrp="1"/>
          </p:cNvSpPr>
          <p:nvPr>
            <p:ph type="body" sz="quarter" idx="13"/>
          </p:nvPr>
        </p:nvSpPr>
        <p:spPr>
          <a:xfrm>
            <a:off x="1021385" y="2121408"/>
            <a:ext cx="5212080" cy="141732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8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−1.7 years</a:t>
            </a:r>
          </a:p>
        </p:txBody>
      </p:sp>
      <p:sp>
        <p:nvSpPr>
          <p:cNvPr id="5" name="What the number is"/>
          <p:cNvSpPr>
            <a:spLocks noGrp="1"/>
          </p:cNvSpPr>
          <p:nvPr>
            <p:ph type="body" sz="quarter" idx="14"/>
          </p:nvPr>
        </p:nvSpPr>
        <p:spPr>
          <a:xfrm>
            <a:off x="1021385" y="3712464"/>
            <a:ext cx="5212080" cy="65836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number counts, where and when</a:t>
            </a:r>
          </a:p>
        </p:txBody>
      </p:sp>
      <p:sp>
        <p:nvSpPr>
          <p:cNvPr id="6" name="Comparison"/>
          <p:cNvSpPr>
            <a:spLocks noGrp="1"/>
          </p:cNvSpPr>
          <p:nvPr>
            <p:ph type="body" sz="quarter" idx="15"/>
          </p:nvPr>
        </p:nvSpPr>
        <p:spPr>
          <a:xfrm>
            <a:off x="1021385" y="4407408"/>
            <a:ext cx="5212080" cy="6400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the comparison that gives it scale</a:t>
            </a:r>
          </a:p>
        </p:txBody>
      </p:sp>
      <p:sp>
        <p:nvSpPr>
          <p:cNvPr id="7" name="Sentence"/>
          <p:cNvSpPr>
            <a:spLocks noGrp="1"/>
          </p:cNvSpPr>
          <p:nvPr>
            <p:ph type="body" sz="half" idx="16"/>
          </p:nvPr>
        </p:nvSpPr>
        <p:spPr>
          <a:xfrm>
            <a:off x="7193585" y="2121408"/>
            <a:ext cx="4388206" cy="29260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 b="0" ker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One sentence on what the number means.</a:t>
            </a:r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4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Chart: insert a native chart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Table"/>
          <p:cNvSpPr>
            <a:spLocks noGrp="1"/>
          </p:cNvSpPr>
          <p:nvPr>
            <p:ph type="tbl" idx="14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Table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aim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609905" y="1810512"/>
            <a:ext cx="10058400" cy="43342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  <a:defRPr sz="20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Paragraphs of 20 pt text in secondary, no bullets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laim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 userDrawn="1"/>
        </p:nvSpPr>
        <p:spPr>
          <a:xfrm>
            <a:off x="609905" y="1700784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losing claim"/>
          <p:cNvSpPr>
            <a:spLocks noGrp="1"/>
          </p:cNvSpPr>
          <p:nvPr>
            <p:ph type="title"/>
          </p:nvPr>
        </p:nvSpPr>
        <p:spPr>
          <a:xfrm>
            <a:off x="609905" y="1901952"/>
            <a:ext cx="10424160" cy="14630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6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The result, in one sentence</a:t>
            </a:r>
          </a:p>
        </p:txBody>
      </p:sp>
      <p:sp>
        <p:nvSpPr>
          <p:cNvPr id="4" name="Contact"/>
          <p:cNvSpPr>
            <a:spLocks noGrp="1"/>
          </p:cNvSpPr>
          <p:nvPr>
            <p:ph type="body" sz="quarter" idx="13"/>
          </p:nvPr>
        </p:nvSpPr>
        <p:spPr>
          <a:xfrm>
            <a:off x="609905" y="3749040"/>
            <a:ext cx="10424160" cy="4114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Name · web address</a:t>
            </a:r>
          </a:p>
        </p:txBody>
      </p:sp>
      <p:sp>
        <p:nvSpPr>
          <p:cNvPr id="5" name="Provenance"/>
          <p:cNvSpPr>
            <a:spLocks noGrp="1"/>
          </p:cNvSpPr>
          <p:nvPr>
            <p:ph type="body" sz="quarter" idx="14"/>
          </p:nvPr>
        </p:nvSpPr>
        <p:spPr>
          <a:xfrm>
            <a:off x="609905" y="4343400"/>
            <a:ext cx="10424160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Where the figures, data and code are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 userDrawn="1"/>
        </p:nvSpPr>
        <p:spPr>
          <a:xfrm>
            <a:off x="609905" y="457200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Text in 20 pt Corbel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>
          <a:xfrm>
            <a:off x="6096305" y="6382512"/>
            <a:ext cx="27432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/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r>
              <a:rPr lang="en-GB" dirty="0"/>
              <a:t/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A29E96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5000"/>
        </a:lnSpc>
        <a:spcBef>
          <a:spcPct val="0"/>
        </a:spcBef>
        <a:buNone/>
        <a:defRPr sz="3200" ker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105000"/>
        </a:lnSpc>
        <a:spcBef>
          <a:spcPts val="0"/>
        </a:spcBef>
        <a:spcAft>
          <a:spcPts val="1000"/>
        </a:spcAft>
        <a:buNone/>
        <a:defRPr sz="2000" kern="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800" kern="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4pPr>
      <a:lvl5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5pPr>
      <a:lvl6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6pPr>
      <a:lvl7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7pPr>
      <a:lvl8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8pPr>
      <a:lvl9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2pPr>
      <a:lvl3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4pPr>
      <a:lvl5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5pPr>
      <a:lvl6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7pPr>
      <a:lvl8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8pPr>
      <a:lvl9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Every slide in this deck takes its colours and type from one Vellum theme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PowerPoint template with ten layouts, figures from the Vellum gallery and native charts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Vellum example deck · A. Kaminas · 12 October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dark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 from the gallery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PNG twins from matplotlib in picture placeholders; the dark deck takes the dark twins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dark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Carbon dioxide at Mauna Loa rose in every year from 1959 to 2019, by 96 ppm in 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Monthly mean CO₂, March 1958 to April 2020</a:t>
            </a:r>
          </a:p>
        </p:txBody>
      </p:sp>
      <p:pic>
        <p:nvPicPr>
          <p:cNvPr id="4" name="Picture Placeholder 3" descr="imag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09904" y="2704961"/>
            <a:ext cx="10971885" cy="3002394"/>
          </a:xfrm>
        </p:spPr>
      </p:pic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NOAA GML and Scripps, via vega-datasets 2.8.0 · co2_keeling.py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Life expectancy rose in all 236 countries since 1950, but the trend hides collapses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Life expectancy at birth</a:t>
            </a:r>
          </a:p>
        </p:txBody>
      </p:sp>
      <p:pic>
        <p:nvPicPr>
          <p:cNvPr id="4" name="Picture Placeholder 3" descr="imag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09904" y="2267549"/>
            <a:ext cx="7735051" cy="3877218"/>
          </a:xfrm>
        </p:spPr>
      </p:pic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WPP (2024), HMD (2024) and others, processed by Our World in Data · life_small_multiples.py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Two adaptive peaks, 1.00 and 0.72, are joined by a saddle at w = 0.26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Illustrative landscape w(z₁, z₂) · the same gradient and limits in both panels</a:t>
            </a:r>
          </a:p>
        </p:txBody>
      </p:sp>
      <p:pic>
        <p:nvPicPr>
          <p:cNvPr id="4" name="Picture Placeholder 3" descr="imag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09904" y="2267549"/>
            <a:ext cx="4351510" cy="3346866"/>
          </a:xfrm>
        </p:spPr>
      </p:pic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09904" y="5742431"/>
            <a:ext cx="5303062" cy="365760"/>
          </a:xfrm>
        </p:spPr>
        <p:txBody>
          <a:bodyPr/>
          <a:lstStyle/>
          <a:p>
            <a:r>
              <a:t>The shape: orthographic view, elevation 24°, azimuth −58°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5"/>
          </p:nvPr>
        </p:nvPicPr>
        <p:blipFill>
          <a:blip r:embed="rId3"/>
          <a:srcRect/>
          <a:stretch>
            <a:fillRect/>
          </a:stretch>
        </p:blipFill>
        <p:spPr>
          <a:xfrm>
            <a:off x="6278727" y="2267549"/>
            <a:ext cx="3230047" cy="3282616"/>
          </a:xfrm>
        </p:spPr>
      </p:pic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6278727" y="5742431"/>
            <a:ext cx="5303062" cy="365760"/>
          </a:xfrm>
        </p:spPr>
        <p:txBody>
          <a:bodyPr/>
          <a:lstStyle/>
          <a:p>
            <a:r>
              <a:t>The values: the same surface as a heat map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Analytic function landscape(z1, z2) in _common.py, illustrative · landscape_3d.py · git 4c16514-dirty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charts, numbers and 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Drawn by python-pptx in the theme’s colours and fonts, and editable in PowerPoint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dark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Since 1950 life expectancy rose by 33 years in Asia, 27 in Africa and 17 in Europe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life expectancy at birth, years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4"/>
          </p:nvPr>
        </p:nvGraphicFramePr>
        <p:xfrm>
          <a:off x="609904" y="2130389"/>
          <a:ext cx="10971885" cy="40143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World Population Prospects (2024), processed by Our World in Data, CC BY 4.0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From 2000 to 2025 wind and solar added 5,460 TWh, more than coal’s 4,663 TWh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world electricity generation by source, TWh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4"/>
          </p:nvPr>
        </p:nvGraphicFramePr>
        <p:xfrm>
          <a:off x="609904" y="2130389"/>
          <a:ext cx="10971885" cy="40143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Ember (2026) and Energy Institute (2025), via Our World in Data, CC BY 4.0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511982"/>
          </a:xfrm>
        </p:spPr>
        <p:txBody>
          <a:bodyPr/>
          <a:lstStyle/>
          <a:p>
            <a:r>
              <a:t>In 2025 low-carbon sources made 42.6 % of world electricity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42.6 %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of world electricity generation in 2025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>
          <a:xfrm>
            <a:off x="1021384" y="4116578"/>
            <a:ext cx="5212080" cy="457200"/>
          </a:xfrm>
        </p:spPr>
        <p:txBody>
          <a:bodyPr/>
          <a:lstStyle/>
          <a:p>
            <a:r>
              <a:t>up from 35.3 % in 2000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half"/>
          </p:nvPr>
        </p:nvSpPr>
        <p:spPr/>
        <p:txBody>
          <a:bodyPr/>
          <a:lstStyle/>
          <a:p>
            <a:r>
              <a:t>In 2025 low-carbon sources added 883 TWh, more than the 842 TWh by which generation grew, so fossil generation fell by 41 TWh.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Ember (2026) and Energy Institute (2025), via Our World in Data, CC BY 4.0 · make_pptx.py · git 4c16514-dirty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The life-expectancy series covers 236 countries and territories over 74 years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Period life expectancy at birth, 1950–2023</a:t>
            </a:r>
          </a:p>
        </p:txBody>
      </p:sp>
      <p:sp>
        <p:nvSpPr>
          <p:cNvPr id="4" name="Stat tile 1"/>
          <p:cNvSpPr/>
          <p:nvPr/>
        </p:nvSpPr>
        <p:spPr>
          <a:xfrm>
            <a:off x="609904" y="2358989"/>
            <a:ext cx="3413455" cy="2514600"/>
          </a:xfrm>
          <a:prstGeom prst="roundRect">
            <a:avLst>
              <a:gd name="adj" fmla="val 4363"/>
            </a:avLst>
          </a:prstGeom>
          <a:solidFill>
            <a:srgbClr val="34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182880"/>
          <a:lstStyle/>
          <a:p>
            <a:pPr algn="l">
              <a:spcBef>
                <a:spcPts val="0"/>
              </a:spcBef>
            </a:pPr>
            <a:r>
              <a:rPr sz="6000">
                <a:solidFill>
                  <a:srgbClr val="ECE7DF"/>
                </a:solidFill>
                <a:latin typeface="Palatino Linotype"/>
              </a:rPr>
              <a:t>236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A29E96"/>
                </a:solidFill>
                <a:latin typeface="Corbel"/>
              </a:rPr>
              <a:t>countries and territories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C9C4BB"/>
                </a:solidFill>
                <a:latin typeface="Corbel"/>
              </a:rPr>
              <a:t>17,464 country-years in all</a:t>
            </a:r>
          </a:p>
        </p:txBody>
      </p:sp>
      <p:sp>
        <p:nvSpPr>
          <p:cNvPr id="5" name="Stat tile 2"/>
          <p:cNvSpPr/>
          <p:nvPr/>
        </p:nvSpPr>
        <p:spPr>
          <a:xfrm>
            <a:off x="4389120" y="2358989"/>
            <a:ext cx="3413455" cy="2514600"/>
          </a:xfrm>
          <a:prstGeom prst="roundRect">
            <a:avLst>
              <a:gd name="adj" fmla="val 4363"/>
            </a:avLst>
          </a:prstGeom>
          <a:solidFill>
            <a:srgbClr val="34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182880"/>
          <a:lstStyle/>
          <a:p>
            <a:pPr algn="l">
              <a:spcBef>
                <a:spcPts val="0"/>
              </a:spcBef>
            </a:pPr>
            <a:r>
              <a:rPr sz="6000">
                <a:solidFill>
                  <a:srgbClr val="ECE7DF"/>
                </a:solidFill>
                <a:latin typeface="Palatino Linotype"/>
              </a:rPr>
              <a:t>74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A29E96"/>
                </a:solidFill>
                <a:latin typeface="Corbel"/>
              </a:rPr>
              <a:t>years of annual estimates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C9C4BB"/>
                </a:solidFill>
                <a:latin typeface="Corbel"/>
              </a:rPr>
              <a:t>1950 to 2023, one value a year</a:t>
            </a:r>
          </a:p>
        </p:txBody>
      </p:sp>
      <p:sp>
        <p:nvSpPr>
          <p:cNvPr id="6" name="Stat tile 3"/>
          <p:cNvSpPr/>
          <p:nvPr/>
        </p:nvSpPr>
        <p:spPr>
          <a:xfrm>
            <a:off x="8168335" y="2358989"/>
            <a:ext cx="3413455" cy="2514600"/>
          </a:xfrm>
          <a:prstGeom prst="roundRect">
            <a:avLst>
              <a:gd name="adj" fmla="val 4363"/>
            </a:avLst>
          </a:prstGeom>
          <a:solidFill>
            <a:srgbClr val="34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182880"/>
          <a:lstStyle/>
          <a:p>
            <a:pPr algn="l">
              <a:spcBef>
                <a:spcPts val="0"/>
              </a:spcBef>
            </a:pPr>
            <a:r>
              <a:rPr sz="6000">
                <a:solidFill>
                  <a:srgbClr val="ECE7DF"/>
                </a:solidFill>
                <a:latin typeface="Palatino Linotype"/>
              </a:rPr>
              <a:t>−1.7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A29E96"/>
                </a:solidFill>
                <a:latin typeface="Corbel"/>
              </a:rPr>
              <a:t>years, the world’s fall from 2019 to 2021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C9C4BB"/>
                </a:solidFill>
                <a:latin typeface="Corbel"/>
              </a:rPr>
              <a:t>the deepest since 1959–60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World Population Prospects (2024), processed by Our World in Data, CC BY 4.0 · make_pptx.py · git 4c16514-dirty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From 2019 to 2021 life expectancy fell by 0.1 years in Oceania and by 3.4 in Latin America and the Caribbean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Period life expectancy at birth by UN region, years · sorted by the fall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/>
          </p:nvPr>
        </p:nvGraphicFramePr>
        <p:xfrm>
          <a:off x="609904" y="2267549"/>
          <a:ext cx="10972800" cy="336499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480560"/>
                <a:gridCol w="1463040"/>
                <a:gridCol w="1463040"/>
                <a:gridCol w="146304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ECE7DF"/>
                          </a:solidFill>
                          <a:latin typeface="Corbel"/>
                        </a:rPr>
                        <a:t>UN region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A544D"/>
                      </a:solidFill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ECE7DF"/>
                          </a:solidFill>
                          <a:latin typeface="Corbel"/>
                        </a:rPr>
                        <a:t>2019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A544D"/>
                      </a:solidFill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ECE7DF"/>
                          </a:solidFill>
                          <a:latin typeface="Corbel"/>
                        </a:rPr>
                        <a:t>2021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A544D"/>
                      </a:solidFill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ECE7DF"/>
                          </a:solidFill>
                          <a:latin typeface="Corbel"/>
                        </a:rPr>
                        <a:t>2023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A544D"/>
                      </a:solidFill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ECE7DF"/>
                          </a:solidFill>
                          <a:latin typeface="Corbel"/>
                        </a:rPr>
                        <a:t>fall, 2019–21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5A544D"/>
                      </a:solidFill>
                    </a:lnB>
                    <a:solidFill>
                      <a:srgbClr val="342F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Latin America and the Caribbean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D5A4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75.3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D5A4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71.8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D5A4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75.7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D5A4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−3.4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7D5A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Northern America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79.3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76.9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79.6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−2.3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Europe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78.8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77.0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79.1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−1.7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Asia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74.0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72.4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74.6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−1.7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Africa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62.4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61.8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63.8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−0.7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A25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Oceania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78.6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78.5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C9C4BB"/>
                          </a:solidFill>
                          <a:latin typeface="Corbel"/>
                        </a:rPr>
                        <a:t>79.1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ECE7DF"/>
                          </a:solidFill>
                          <a:latin typeface="Corbel"/>
                        </a:rPr>
                        <a:t>−0.1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42F2A"/>
                    </a:solidFill>
                  </a:tcPr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World Population Prospects (2024), processed by Our World in Data, CC BY 4.0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figure, chart and number here is drawn by a script from open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A. Kaminas · akaminas.github.io/vellum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Deck: examples/python/office/make_pptx.py · figures: examples/python · data: data/SOURCES.md</a:t>
            </a:r>
          </a:p>
          <a:p>
            <a:r>
              <a:t>Downloads: vellum-slides-light.pptx, vellum-slides-dark.pptx, vellum-office.tsv · git 4c16514-dirty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dark · make_pptx.py · git 4c16514-dirty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511982"/>
          </a:xfrm>
        </p:spPr>
        <p:txBody>
          <a:bodyPr/>
          <a:lstStyle/>
          <a:p>
            <a:r>
              <a:t>Using this template in PowerPoint and Canva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04" y="1389806"/>
            <a:ext cx="10058400" cy="4754961"/>
          </a:xfrm>
        </p:spPr>
        <p:txBody>
          <a:bodyPr/>
          <a:lstStyle/>
          <a:p>
            <a:r>
              <a:rPr sz="1800"/>
              <a:t>PowerPoint: Home → New Slide lists the ten Vellum layouts; Design → Variants holds the theme. File → Save As → PowerPoint Template (.potx) keeps it as a template.</a:t>
            </a:r>
          </a:p>
          <a:p>
            <a:r>
              <a:rPr sz="1800"/>
              <a:t>Theme colours, by role in the dark twin: Dark 1 ink ECE7DF, Light 1 surface 2A2520, Dark 2 secondary C9C4BB, Light 2 card 342F2A; Accents 1–6, the tones in slot order: 8AE2E7 E8A68F 8099CF E1C487 B984AD 93BD89.</a:t>
            </a:r>
          </a:p>
          <a:p>
            <a:r>
              <a:rPr sz="1800"/>
              <a:t>Fonts: Palatino Linotype for headings, Corbel for body. Canva has neither by default: upload them to the Brand Kit if your licence allows, or set a similar serif and sans such as EB Garamond and Lato.</a:t>
            </a:r>
          </a:p>
          <a:p>
            <a:r>
              <a:rPr sz="1800"/>
              <a:t>Canva: drag the .pptx into Canva or use Import file. Text, shapes, pictures and tables stay editable; check the two native charts, which may arrive as Canva charts or as pictures, and the slide numbers.</a:t>
            </a:r>
          </a:p>
          <a:p>
            <a:r>
              <a:rPr sz="1800"/>
              <a:t>Text stays ink, secondary or muted A29E96; the tones are for data. Every hex value of both twins is in vellum-office.tsv, ready for the Brand Kit’s colours.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Colours: vellum-office.tsv · fonts: vellum.json · make_pptx.py · git 4c16514-dirty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llum dark">
  <a:themeElements>
    <a:clrScheme name="Vellum dark">
      <a:dk1>
        <a:srgbClr val="ECE7DF"/>
      </a:dk1>
      <a:lt1>
        <a:srgbClr val="2A2520"/>
      </a:lt1>
      <a:dk2>
        <a:srgbClr val="C9C4BB"/>
      </a:dk2>
      <a:lt2>
        <a:srgbClr val="342F2A"/>
      </a:lt2>
      <a:accent1>
        <a:srgbClr val="8AE2E7"/>
      </a:accent1>
      <a:accent2>
        <a:srgbClr val="E8A68F"/>
      </a:accent2>
      <a:accent3>
        <a:srgbClr val="8099CF"/>
      </a:accent3>
      <a:accent4>
        <a:srgbClr val="E1C487"/>
      </a:accent4>
      <a:accent5>
        <a:srgbClr val="B984AD"/>
      </a:accent5>
      <a:accent6>
        <a:srgbClr val="93BD89"/>
      </a:accent6>
      <a:hlink>
        <a:srgbClr val="8099CF"/>
      </a:hlink>
      <a:folHlink>
        <a:srgbClr val="D8E5FF"/>
      </a:folHlink>
    </a:clrScheme>
    <a:fontScheme name="Vellum">
      <a:majorFont>
        <a:latin typeface="Palatino Linotype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Vellum slides, dark</dc:title>
  <dc:subject>Vellum figure style: PowerPoint and Canva template with example slides</dc:subject>
  <dc:creator>A. Kaminas</dc:creator>
  <cp:keywords>Vellum; template; slides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